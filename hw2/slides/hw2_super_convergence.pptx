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татья" id="{5b936cd9-5d69-5716-7bb8-b542fb8335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Воспроизведение" id="{a002c686-6bb2-830c-5baf-a932eb310b8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83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838"/>
                </a:solidFill>
                <a:latin typeface="+mn-lt"/>
              </a:rPr>
              <a:t>Два расписания LR, % обучения → η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piecewise constant (0.35)</c:v>
                </c:pt>
              </c:strCache>
            </c:strRef>
          </c:tx>
          <c:spPr>
            <a:solidFill>
              <a:srgbClr val="E8572A"/>
            </a:solidFill>
            <a:ln w="25400" cap="flat">
              <a:solidFill>
                <a:srgbClr val="E85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572A"/>
              </a:solidFill>
              <a:ln w="9525" cap="flat">
                <a:solidFill>
                  <a:srgbClr val="E85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0.35</c:v>
                </c:pt>
                <c:pt idx="1">
                  <c:v>0.35</c:v>
                </c:pt>
                <c:pt idx="2">
                  <c:v>0.35</c:v>
                </c:pt>
                <c:pt idx="3">
                  <c:v>0.35</c:v>
                </c:pt>
                <c:pt idx="4">
                  <c:v>0.35</c:v>
                </c:pt>
                <c:pt idx="5">
                  <c:v>0.35</c:v>
                </c:pt>
                <c:pt idx="6">
                  <c:v>0.35</c:v>
                </c:pt>
                <c:pt idx="7">
                  <c:v>0.35</c:v>
                </c:pt>
                <c:pt idx="8">
                  <c:v>0.35</c:v>
                </c:pt>
                <c:pt idx="9">
                  <c:v>0.35</c:v>
                </c:pt>
                <c:pt idx="10">
                  <c:v>0.35</c:v>
                </c:pt>
                <c:pt idx="11">
                  <c:v>0.35</c:v>
                </c:pt>
                <c:pt idx="12">
                  <c:v>0.35</c:v>
                </c:pt>
                <c:pt idx="13">
                  <c:v>0.35</c:v>
                </c:pt>
                <c:pt idx="14">
                  <c:v>0.35</c:v>
                </c:pt>
                <c:pt idx="15">
                  <c:v>0.35</c:v>
                </c:pt>
                <c:pt idx="16">
                  <c:v>0.35</c:v>
                </c:pt>
                <c:pt idx="17">
                  <c:v>0.35</c:v>
                </c:pt>
                <c:pt idx="18">
                  <c:v>0.35</c:v>
                </c:pt>
                <c:pt idx="19">
                  <c:v>0.35</c:v>
                </c:pt>
                <c:pt idx="20">
                  <c:v>0.35</c:v>
                </c:pt>
                <c:pt idx="21">
                  <c:v>0.35</c:v>
                </c:pt>
                <c:pt idx="22">
                  <c:v>0.35</c:v>
                </c:pt>
                <c:pt idx="23">
                  <c:v>0.35</c:v>
                </c:pt>
                <c:pt idx="24">
                  <c:v>0.35</c:v>
                </c:pt>
                <c:pt idx="25">
                  <c:v>0.35</c:v>
                </c:pt>
                <c:pt idx="26">
                  <c:v>0.35</c:v>
                </c:pt>
                <c:pt idx="27">
                  <c:v>0.35</c:v>
                </c:pt>
                <c:pt idx="28">
                  <c:v>0.35</c:v>
                </c:pt>
                <c:pt idx="29">
                  <c:v>0.35</c:v>
                </c:pt>
                <c:pt idx="30">
                  <c:v>0.35</c:v>
                </c:pt>
                <c:pt idx="31">
                  <c:v>0.35</c:v>
                </c:pt>
                <c:pt idx="32">
                  <c:v>0.35</c:v>
                </c:pt>
                <c:pt idx="33">
                  <c:v>0.35</c:v>
                </c:pt>
                <c:pt idx="34">
                  <c:v>0.35</c:v>
                </c:pt>
                <c:pt idx="35">
                  <c:v>0.35</c:v>
                </c:pt>
                <c:pt idx="36">
                  <c:v>0.35</c:v>
                </c:pt>
                <c:pt idx="37">
                  <c:v>0.35</c:v>
                </c:pt>
                <c:pt idx="38">
                  <c:v>0.35</c:v>
                </c:pt>
                <c:pt idx="39">
                  <c:v>0.35</c:v>
                </c:pt>
                <c:pt idx="40">
                  <c:v>0.35</c:v>
                </c:pt>
                <c:pt idx="41">
                  <c:v>0.35</c:v>
                </c:pt>
                <c:pt idx="42">
                  <c:v>0.35</c:v>
                </c:pt>
                <c:pt idx="43">
                  <c:v>0.35</c:v>
                </c:pt>
                <c:pt idx="44">
                  <c:v>0.35</c:v>
                </c:pt>
                <c:pt idx="45">
                  <c:v>0.35</c:v>
                </c:pt>
                <c:pt idx="46">
                  <c:v>0.35</c:v>
                </c:pt>
                <c:pt idx="47">
                  <c:v>0.35</c:v>
                </c:pt>
                <c:pt idx="48">
                  <c:v>0.35</c:v>
                </c:pt>
                <c:pt idx="49">
                  <c:v>0.35</c:v>
                </c:pt>
                <c:pt idx="50">
                  <c:v>0.35</c:v>
                </c:pt>
                <c:pt idx="51">
                  <c:v>0.35</c:v>
                </c:pt>
                <c:pt idx="52">
                  <c:v>0.35</c:v>
                </c:pt>
                <c:pt idx="53">
                  <c:v>0.35</c:v>
                </c:pt>
                <c:pt idx="54">
                  <c:v>0.35</c:v>
                </c:pt>
                <c:pt idx="55">
                  <c:v>0.35</c:v>
                </c:pt>
                <c:pt idx="56">
                  <c:v>0.35</c:v>
                </c:pt>
                <c:pt idx="57">
                  <c:v>0.35</c:v>
                </c:pt>
                <c:pt idx="58">
                  <c:v>0.35</c:v>
                </c:pt>
                <c:pt idx="59">
                  <c:v>0.35</c:v>
                </c:pt>
                <c:pt idx="60">
                  <c:v>0.35</c:v>
                </c:pt>
                <c:pt idx="61">
                  <c:v>0.35</c:v>
                </c:pt>
                <c:pt idx="62">
                  <c:v>0.035</c:v>
                </c:pt>
                <c:pt idx="63">
                  <c:v>0.035</c:v>
                </c:pt>
                <c:pt idx="64">
                  <c:v>0.035</c:v>
                </c:pt>
                <c:pt idx="65">
                  <c:v>0.035</c:v>
                </c:pt>
                <c:pt idx="66">
                  <c:v>0.035</c:v>
                </c:pt>
                <c:pt idx="67">
                  <c:v>0.035</c:v>
                </c:pt>
                <c:pt idx="68">
                  <c:v>0.035</c:v>
                </c:pt>
                <c:pt idx="69">
                  <c:v>0.035</c:v>
                </c:pt>
                <c:pt idx="70">
                  <c:v>0.035</c:v>
                </c:pt>
                <c:pt idx="71">
                  <c:v>0.035</c:v>
                </c:pt>
                <c:pt idx="72">
                  <c:v>0.035</c:v>
                </c:pt>
                <c:pt idx="73">
                  <c:v>0.035</c:v>
                </c:pt>
                <c:pt idx="74">
                  <c:v>0.035</c:v>
                </c:pt>
                <c:pt idx="75">
                  <c:v>0.035</c:v>
                </c:pt>
                <c:pt idx="76">
                  <c:v>0.035</c:v>
                </c:pt>
                <c:pt idx="77">
                  <c:v>0.035</c:v>
                </c:pt>
                <c:pt idx="78">
                  <c:v>0.035</c:v>
                </c:pt>
                <c:pt idx="79">
                  <c:v>0.035</c:v>
                </c:pt>
                <c:pt idx="80">
                  <c:v>0.035</c:v>
                </c:pt>
                <c:pt idx="81">
                  <c:v>0.035</c:v>
                </c:pt>
                <c:pt idx="82">
                  <c:v>0.035</c:v>
                </c:pt>
                <c:pt idx="83">
                  <c:v>0.035</c:v>
                </c:pt>
                <c:pt idx="84">
                  <c:v>0.035</c:v>
                </c:pt>
                <c:pt idx="85">
                  <c:v>0.035</c:v>
                </c:pt>
                <c:pt idx="86">
                  <c:v>0.035</c:v>
                </c:pt>
                <c:pt idx="87">
                  <c:v>0.0035</c:v>
                </c:pt>
                <c:pt idx="88">
                  <c:v>0.0035</c:v>
                </c:pt>
                <c:pt idx="89">
                  <c:v>0.0035</c:v>
                </c:pt>
                <c:pt idx="90">
                  <c:v>0.0035</c:v>
                </c:pt>
                <c:pt idx="91">
                  <c:v>0.0035</c:v>
                </c:pt>
                <c:pt idx="92">
                  <c:v>0.0035</c:v>
                </c:pt>
                <c:pt idx="93">
                  <c:v>0.0035</c:v>
                </c:pt>
                <c:pt idx="94">
                  <c:v>0.0035</c:v>
                </c:pt>
                <c:pt idx="95">
                  <c:v>0.0035</c:v>
                </c:pt>
                <c:pt idx="96">
                  <c:v>0.0035</c:v>
                </c:pt>
                <c:pt idx="97">
                  <c:v>0.0035</c:v>
                </c:pt>
                <c:pt idx="98">
                  <c:v>0.0035</c:v>
                </c:pt>
                <c:pt idx="99">
                  <c:v>0.0035</c:v>
                </c:pt>
                <c:pt idx="100">
                  <c:v>0.0035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1cycle (0.1 → 3 → 0.001)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</c:lvl>
              </c:multiLvlStrCache>
            </c:multiLvlStrRef>
          </c:cat>
          <c:val>
            <c:numRef>
              <c:f>Sheet1!$C$2:$C$102</c:f>
              <c:numCache>
                <c:formatCode>General</c:formatCode>
                <c:ptCount val="101"/>
                <c:pt idx="0">
                  <c:v>0.1</c:v>
                </c:pt>
                <c:pt idx="1">
                  <c:v>0.16444444444444445</c:v>
                </c:pt>
                <c:pt idx="2">
                  <c:v>0.2288888888888889</c:v>
                </c:pt>
                <c:pt idx="3">
                  <c:v>0.29333333333333333</c:v>
                </c:pt>
                <c:pt idx="4">
                  <c:v>0.35777777777777775</c:v>
                </c:pt>
                <c:pt idx="5">
                  <c:v>0.4222222222222223</c:v>
                </c:pt>
                <c:pt idx="6">
                  <c:v>0.4866666666666667</c:v>
                </c:pt>
                <c:pt idx="7">
                  <c:v>0.5511111111111111</c:v>
                </c:pt>
                <c:pt idx="8">
                  <c:v>0.6155555555555555</c:v>
                </c:pt>
                <c:pt idx="9">
                  <c:v>0.6799999999999999</c:v>
                </c:pt>
                <c:pt idx="10">
                  <c:v>0.7444444444444445</c:v>
                </c:pt>
                <c:pt idx="11">
                  <c:v>0.8088888888888889</c:v>
                </c:pt>
                <c:pt idx="12">
                  <c:v>0.8733333333333333</c:v>
                </c:pt>
                <c:pt idx="13">
                  <c:v>0.9377777777777777</c:v>
                </c:pt>
                <c:pt idx="14">
                  <c:v>1.0022222222222223</c:v>
                </c:pt>
                <c:pt idx="15">
                  <c:v>1.0666666666666667</c:v>
                </c:pt>
                <c:pt idx="16">
                  <c:v>1.1311111111111112</c:v>
                </c:pt>
                <c:pt idx="17">
                  <c:v>1.1955555555555555</c:v>
                </c:pt>
                <c:pt idx="18">
                  <c:v>1.26</c:v>
                </c:pt>
                <c:pt idx="19">
                  <c:v>1.3244444444444445</c:v>
                </c:pt>
                <c:pt idx="20">
                  <c:v>1.388888888888889</c:v>
                </c:pt>
                <c:pt idx="21">
                  <c:v>1.4533333333333334</c:v>
                </c:pt>
                <c:pt idx="22">
                  <c:v>1.517777777777778</c:v>
                </c:pt>
                <c:pt idx="23">
                  <c:v>1.5822222222222224</c:v>
                </c:pt>
                <c:pt idx="24">
                  <c:v>1.6466666666666667</c:v>
                </c:pt>
                <c:pt idx="25">
                  <c:v>1.7111111111111112</c:v>
                </c:pt>
                <c:pt idx="26">
                  <c:v>1.7755555555555556</c:v>
                </c:pt>
                <c:pt idx="27">
                  <c:v>1.84</c:v>
                </c:pt>
                <c:pt idx="28">
                  <c:v>1.9044444444444446</c:v>
                </c:pt>
                <c:pt idx="29">
                  <c:v>1.968888888888889</c:v>
                </c:pt>
                <c:pt idx="30">
                  <c:v>2.033333333333333</c:v>
                </c:pt>
                <c:pt idx="31">
                  <c:v>2.0977777777777775</c:v>
                </c:pt>
                <c:pt idx="32">
                  <c:v>2.1622222222222223</c:v>
                </c:pt>
                <c:pt idx="33">
                  <c:v>2.226666666666667</c:v>
                </c:pt>
                <c:pt idx="34">
                  <c:v>2.291111111111111</c:v>
                </c:pt>
                <c:pt idx="35">
                  <c:v>2.3555555555555556</c:v>
                </c:pt>
                <c:pt idx="36">
                  <c:v>2.42</c:v>
                </c:pt>
                <c:pt idx="37">
                  <c:v>2.4844444444444447</c:v>
                </c:pt>
                <c:pt idx="38">
                  <c:v>2.548888888888889</c:v>
                </c:pt>
                <c:pt idx="39">
                  <c:v>2.6133333333333333</c:v>
                </c:pt>
                <c:pt idx="40">
                  <c:v>2.677777777777778</c:v>
                </c:pt>
                <c:pt idx="41">
                  <c:v>2.7422222222222223</c:v>
                </c:pt>
                <c:pt idx="42">
                  <c:v>2.8066666666666666</c:v>
                </c:pt>
                <c:pt idx="43">
                  <c:v>2.8711111111111114</c:v>
                </c:pt>
                <c:pt idx="44">
                  <c:v>2.9355555555555557</c:v>
                </c:pt>
                <c:pt idx="45">
                  <c:v>3</c:v>
                </c:pt>
                <c:pt idx="46">
                  <c:v>2.9355555555555557</c:v>
                </c:pt>
                <c:pt idx="47">
                  <c:v>2.871111111111111</c:v>
                </c:pt>
                <c:pt idx="48">
                  <c:v>2.8066666666666666</c:v>
                </c:pt>
                <c:pt idx="49">
                  <c:v>2.7422222222222223</c:v>
                </c:pt>
                <c:pt idx="50">
                  <c:v>2.6777777777777776</c:v>
                </c:pt>
                <c:pt idx="51">
                  <c:v>2.6133333333333333</c:v>
                </c:pt>
                <c:pt idx="52">
                  <c:v>2.548888888888889</c:v>
                </c:pt>
                <c:pt idx="53">
                  <c:v>2.4844444444444447</c:v>
                </c:pt>
                <c:pt idx="54">
                  <c:v>2.42</c:v>
                </c:pt>
                <c:pt idx="55">
                  <c:v>2.3555555555555556</c:v>
                </c:pt>
                <c:pt idx="56">
                  <c:v>2.2911111111111113</c:v>
                </c:pt>
                <c:pt idx="57">
                  <c:v>2.2266666666666666</c:v>
                </c:pt>
                <c:pt idx="58">
                  <c:v>2.1622222222222223</c:v>
                </c:pt>
                <c:pt idx="59">
                  <c:v>2.097777777777778</c:v>
                </c:pt>
                <c:pt idx="60">
                  <c:v>2.033333333333333</c:v>
                </c:pt>
                <c:pt idx="61">
                  <c:v>1.968888888888889</c:v>
                </c:pt>
                <c:pt idx="62">
                  <c:v>1.9044444444444446</c:v>
                </c:pt>
                <c:pt idx="63">
                  <c:v>1.84</c:v>
                </c:pt>
                <c:pt idx="64">
                  <c:v>1.7755555555555556</c:v>
                </c:pt>
                <c:pt idx="65">
                  <c:v>1.711111111111111</c:v>
                </c:pt>
                <c:pt idx="66">
                  <c:v>1.6466666666666667</c:v>
                </c:pt>
                <c:pt idx="67">
                  <c:v>1.5822222222222222</c:v>
                </c:pt>
                <c:pt idx="68">
                  <c:v>1.5177777777777777</c:v>
                </c:pt>
                <c:pt idx="69">
                  <c:v>1.4533333333333334</c:v>
                </c:pt>
                <c:pt idx="70">
                  <c:v>1.3888888888888888</c:v>
                </c:pt>
                <c:pt idx="71">
                  <c:v>1.3244444444444445</c:v>
                </c:pt>
                <c:pt idx="72">
                  <c:v>1.26</c:v>
                </c:pt>
                <c:pt idx="73">
                  <c:v>1.1955555555555555</c:v>
                </c:pt>
                <c:pt idx="74">
                  <c:v>1.1311111111111112</c:v>
                </c:pt>
                <c:pt idx="75">
                  <c:v>1.0666666666666667</c:v>
                </c:pt>
                <c:pt idx="76">
                  <c:v>1.0022222222222223</c:v>
                </c:pt>
                <c:pt idx="77">
                  <c:v>0.9377777777777778</c:v>
                </c:pt>
                <c:pt idx="78">
                  <c:v>0.8733333333333331</c:v>
                </c:pt>
                <c:pt idx="79">
                  <c:v>0.8088888888888892</c:v>
                </c:pt>
                <c:pt idx="80">
                  <c:v>0.7444444444444445</c:v>
                </c:pt>
                <c:pt idx="81">
                  <c:v>0.6800000000000002</c:v>
                </c:pt>
                <c:pt idx="82">
                  <c:v>0.6155555555555554</c:v>
                </c:pt>
                <c:pt idx="83">
                  <c:v>0.5511111111111111</c:v>
                </c:pt>
                <c:pt idx="84">
                  <c:v>0.4866666666666668</c:v>
                </c:pt>
                <c:pt idx="85">
                  <c:v>0.42222222222222205</c:v>
                </c:pt>
                <c:pt idx="86">
                  <c:v>0.35777777777777775</c:v>
                </c:pt>
                <c:pt idx="87">
                  <c:v>0.29333333333333345</c:v>
                </c:pt>
                <c:pt idx="88">
                  <c:v>0.2288888888888887</c:v>
                </c:pt>
                <c:pt idx="89">
                  <c:v>0.1644444444444444</c:v>
                </c:pt>
                <c:pt idx="90">
                  <c:v>0.1</c:v>
                </c:pt>
                <c:pt idx="91">
                  <c:v>0.0901</c:v>
                </c:pt>
                <c:pt idx="92">
                  <c:v>0.08020000000000001</c:v>
                </c:pt>
                <c:pt idx="93">
                  <c:v>0.0703</c:v>
                </c:pt>
                <c:pt idx="94">
                  <c:v>0.0604</c:v>
                </c:pt>
                <c:pt idx="95">
                  <c:v>0.0505</c:v>
                </c:pt>
                <c:pt idx="96">
                  <c:v>0.0406</c:v>
                </c:pt>
                <c:pt idx="97">
                  <c:v>0.030700000000000005</c:v>
                </c:pt>
                <c:pt idx="98">
                  <c:v>0.0208</c:v>
                </c:pt>
                <c:pt idx="99">
                  <c:v>0.010900000000000007</c:v>
                </c:pt>
                <c:pt idx="100">
                  <c:v>0.0010000000000000009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83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838"/>
                </a:solidFill>
                <a:latin typeface="+mn-lt"/>
              </a:rPr>
              <a:t>Схема Fig. 1a: test accuracy vs итерации (тыс.)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CLR 0.1→3 (10k)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</c:v>
                </c:pt>
                <c:pt idx="1">
                  <c:v>78</c:v>
                </c:pt>
                <c:pt idx="2">
                  <c:v>92.4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0.35 (80k)</c:v>
                </c:pt>
              </c:strCache>
            </c:strRef>
          </c:tx>
          <c:spPr>
            <a:solidFill>
              <a:srgbClr val="E8572A"/>
            </a:solidFill>
            <a:ln w="25400" cap="flat">
              <a:solidFill>
                <a:srgbClr val="E85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572A"/>
              </a:solidFill>
              <a:ln w="9525" cap="flat">
                <a:solidFill>
                  <a:srgbClr val="E85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55</c:v>
                </c:pt>
                <c:pt idx="1">
                  <c:v>72</c:v>
                </c:pt>
                <c:pt idx="2">
                  <c:v>76</c:v>
                </c:pt>
                <c:pt idx="3">
                  <c:v>78</c:v>
                </c:pt>
                <c:pt idx="4">
                  <c:v>79</c:v>
                </c:pt>
                <c:pt idx="5">
                  <c:v>80</c:v>
                </c:pt>
                <c:pt idx="6">
                  <c:v>80</c:v>
                </c:pt>
                <c:pt idx="7">
                  <c:v>81</c:v>
                </c:pt>
                <c:pt idx="8">
                  <c:v>81</c:v>
                </c:pt>
                <c:pt idx="9">
                  <c:v>81</c:v>
                </c:pt>
                <c:pt idx="10">
                  <c:v>88</c:v>
                </c:pt>
                <c:pt idx="11">
                  <c:v>89</c:v>
                </c:pt>
                <c:pt idx="12">
                  <c:v>89</c:v>
                </c:pt>
                <c:pt idx="13">
                  <c:v>89</c:v>
                </c:pt>
                <c:pt idx="14">
                  <c:v>90.5</c:v>
                </c:pt>
                <c:pt idx="15">
                  <c:v>91</c:v>
                </c:pt>
                <c:pt idx="16">
                  <c:v>91.2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8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83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838"/>
                </a:solidFill>
                <a:latin typeface="+mn-lt"/>
              </a:rPr>
              <a:t>learning rate, % обучения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learning rate</c:v>
                </c:pt>
              </c:strCache>
            </c:strRef>
          </c:tx>
          <c:spPr>
            <a:solidFill>
              <a:srgbClr val="E8572A"/>
            </a:solidFill>
            <a:ln w="25400" cap="flat">
              <a:solidFill>
                <a:srgbClr val="E857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572A"/>
              </a:solidFill>
              <a:ln w="9525" cap="flat">
                <a:solidFill>
                  <a:srgbClr val="E857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0.1</c:v>
                </c:pt>
                <c:pt idx="1">
                  <c:v>0.16444444444444445</c:v>
                </c:pt>
                <c:pt idx="2">
                  <c:v>0.2288888888888889</c:v>
                </c:pt>
                <c:pt idx="3">
                  <c:v>0.29333333333333333</c:v>
                </c:pt>
                <c:pt idx="4">
                  <c:v>0.35777777777777775</c:v>
                </c:pt>
                <c:pt idx="5">
                  <c:v>0.4222222222222223</c:v>
                </c:pt>
                <c:pt idx="6">
                  <c:v>0.4866666666666667</c:v>
                </c:pt>
                <c:pt idx="7">
                  <c:v>0.5511111111111111</c:v>
                </c:pt>
                <c:pt idx="8">
                  <c:v>0.6155555555555555</c:v>
                </c:pt>
                <c:pt idx="9">
                  <c:v>0.6799999999999999</c:v>
                </c:pt>
                <c:pt idx="10">
                  <c:v>0.7444444444444445</c:v>
                </c:pt>
                <c:pt idx="11">
                  <c:v>0.8088888888888889</c:v>
                </c:pt>
                <c:pt idx="12">
                  <c:v>0.8733333333333333</c:v>
                </c:pt>
                <c:pt idx="13">
                  <c:v>0.9377777777777777</c:v>
                </c:pt>
                <c:pt idx="14">
                  <c:v>1.0022222222222223</c:v>
                </c:pt>
                <c:pt idx="15">
                  <c:v>1.0666666666666667</c:v>
                </c:pt>
                <c:pt idx="16">
                  <c:v>1.1311111111111112</c:v>
                </c:pt>
                <c:pt idx="17">
                  <c:v>1.1955555555555555</c:v>
                </c:pt>
                <c:pt idx="18">
                  <c:v>1.26</c:v>
                </c:pt>
                <c:pt idx="19">
                  <c:v>1.3244444444444445</c:v>
                </c:pt>
                <c:pt idx="20">
                  <c:v>1.388888888888889</c:v>
                </c:pt>
                <c:pt idx="21">
                  <c:v>1.4533333333333334</c:v>
                </c:pt>
                <c:pt idx="22">
                  <c:v>1.517777777777778</c:v>
                </c:pt>
                <c:pt idx="23">
                  <c:v>1.5822222222222224</c:v>
                </c:pt>
                <c:pt idx="24">
                  <c:v>1.6466666666666667</c:v>
                </c:pt>
                <c:pt idx="25">
                  <c:v>1.7111111111111112</c:v>
                </c:pt>
                <c:pt idx="26">
                  <c:v>1.7755555555555556</c:v>
                </c:pt>
                <c:pt idx="27">
                  <c:v>1.84</c:v>
                </c:pt>
                <c:pt idx="28">
                  <c:v>1.9044444444444446</c:v>
                </c:pt>
                <c:pt idx="29">
                  <c:v>1.968888888888889</c:v>
                </c:pt>
                <c:pt idx="30">
                  <c:v>2.033333333333333</c:v>
                </c:pt>
                <c:pt idx="31">
                  <c:v>2.0977777777777775</c:v>
                </c:pt>
                <c:pt idx="32">
                  <c:v>2.1622222222222223</c:v>
                </c:pt>
                <c:pt idx="33">
                  <c:v>2.226666666666667</c:v>
                </c:pt>
                <c:pt idx="34">
                  <c:v>2.291111111111111</c:v>
                </c:pt>
                <c:pt idx="35">
                  <c:v>2.3555555555555556</c:v>
                </c:pt>
                <c:pt idx="36">
                  <c:v>2.42</c:v>
                </c:pt>
                <c:pt idx="37">
                  <c:v>2.4844444444444447</c:v>
                </c:pt>
                <c:pt idx="38">
                  <c:v>2.548888888888889</c:v>
                </c:pt>
                <c:pt idx="39">
                  <c:v>2.6133333333333333</c:v>
                </c:pt>
                <c:pt idx="40">
                  <c:v>2.677777777777778</c:v>
                </c:pt>
                <c:pt idx="41">
                  <c:v>2.7422222222222223</c:v>
                </c:pt>
                <c:pt idx="42">
                  <c:v>2.8066666666666666</c:v>
                </c:pt>
                <c:pt idx="43">
                  <c:v>2.8711111111111114</c:v>
                </c:pt>
                <c:pt idx="44">
                  <c:v>2.9355555555555557</c:v>
                </c:pt>
                <c:pt idx="45">
                  <c:v>3</c:v>
                </c:pt>
                <c:pt idx="46">
                  <c:v>2.9355555555555557</c:v>
                </c:pt>
                <c:pt idx="47">
                  <c:v>2.871111111111111</c:v>
                </c:pt>
                <c:pt idx="48">
                  <c:v>2.8066666666666666</c:v>
                </c:pt>
                <c:pt idx="49">
                  <c:v>2.7422222222222223</c:v>
                </c:pt>
                <c:pt idx="50">
                  <c:v>2.6777777777777776</c:v>
                </c:pt>
                <c:pt idx="51">
                  <c:v>2.6133333333333333</c:v>
                </c:pt>
                <c:pt idx="52">
                  <c:v>2.548888888888889</c:v>
                </c:pt>
                <c:pt idx="53">
                  <c:v>2.4844444444444447</c:v>
                </c:pt>
                <c:pt idx="54">
                  <c:v>2.42</c:v>
                </c:pt>
                <c:pt idx="55">
                  <c:v>2.3555555555555556</c:v>
                </c:pt>
                <c:pt idx="56">
                  <c:v>2.2911111111111113</c:v>
                </c:pt>
                <c:pt idx="57">
                  <c:v>2.2266666666666666</c:v>
                </c:pt>
                <c:pt idx="58">
                  <c:v>2.1622222222222223</c:v>
                </c:pt>
                <c:pt idx="59">
                  <c:v>2.097777777777778</c:v>
                </c:pt>
                <c:pt idx="60">
                  <c:v>2.033333333333333</c:v>
                </c:pt>
                <c:pt idx="61">
                  <c:v>1.968888888888889</c:v>
                </c:pt>
                <c:pt idx="62">
                  <c:v>1.9044444444444446</c:v>
                </c:pt>
                <c:pt idx="63">
                  <c:v>1.84</c:v>
                </c:pt>
                <c:pt idx="64">
                  <c:v>1.7755555555555556</c:v>
                </c:pt>
                <c:pt idx="65">
                  <c:v>1.711111111111111</c:v>
                </c:pt>
                <c:pt idx="66">
                  <c:v>1.6466666666666667</c:v>
                </c:pt>
                <c:pt idx="67">
                  <c:v>1.5822222222222222</c:v>
                </c:pt>
                <c:pt idx="68">
                  <c:v>1.5177777777777777</c:v>
                </c:pt>
                <c:pt idx="69">
                  <c:v>1.4533333333333334</c:v>
                </c:pt>
                <c:pt idx="70">
                  <c:v>1.3888888888888888</c:v>
                </c:pt>
                <c:pt idx="71">
                  <c:v>1.3244444444444445</c:v>
                </c:pt>
                <c:pt idx="72">
                  <c:v>1.26</c:v>
                </c:pt>
                <c:pt idx="73">
                  <c:v>1.1955555555555555</c:v>
                </c:pt>
                <c:pt idx="74">
                  <c:v>1.1311111111111112</c:v>
                </c:pt>
                <c:pt idx="75">
                  <c:v>1.0666666666666667</c:v>
                </c:pt>
                <c:pt idx="76">
                  <c:v>1.0022222222222223</c:v>
                </c:pt>
                <c:pt idx="77">
                  <c:v>0.9377777777777778</c:v>
                </c:pt>
                <c:pt idx="78">
                  <c:v>0.8733333333333331</c:v>
                </c:pt>
                <c:pt idx="79">
                  <c:v>0.8088888888888892</c:v>
                </c:pt>
                <c:pt idx="80">
                  <c:v>0.7444444444444445</c:v>
                </c:pt>
                <c:pt idx="81">
                  <c:v>0.6800000000000002</c:v>
                </c:pt>
                <c:pt idx="82">
                  <c:v>0.6155555555555554</c:v>
                </c:pt>
                <c:pt idx="83">
                  <c:v>0.5511111111111111</c:v>
                </c:pt>
                <c:pt idx="84">
                  <c:v>0.4866666666666668</c:v>
                </c:pt>
                <c:pt idx="85">
                  <c:v>0.42222222222222205</c:v>
                </c:pt>
                <c:pt idx="86">
                  <c:v>0.35777777777777775</c:v>
                </c:pt>
                <c:pt idx="87">
                  <c:v>0.29333333333333345</c:v>
                </c:pt>
                <c:pt idx="88">
                  <c:v>0.2288888888888887</c:v>
                </c:pt>
                <c:pt idx="89">
                  <c:v>0.1644444444444444</c:v>
                </c:pt>
                <c:pt idx="90">
                  <c:v>0.1</c:v>
                </c:pt>
                <c:pt idx="91">
                  <c:v>0.0901</c:v>
                </c:pt>
                <c:pt idx="92">
                  <c:v>0.08020000000000001</c:v>
                </c:pt>
                <c:pt idx="93">
                  <c:v>0.0703</c:v>
                </c:pt>
                <c:pt idx="94">
                  <c:v>0.0604</c:v>
                </c:pt>
                <c:pt idx="95">
                  <c:v>0.0505</c:v>
                </c:pt>
                <c:pt idx="96">
                  <c:v>0.0406</c:v>
                </c:pt>
                <c:pt idx="97">
                  <c:v>0.030700000000000005</c:v>
                </c:pt>
                <c:pt idx="98">
                  <c:v>0.0208</c:v>
                </c:pt>
                <c:pt idx="99">
                  <c:v>0.010900000000000007</c:v>
                </c:pt>
                <c:pt idx="100">
                  <c:v>0.0010000000000000009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838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B2838"/>
                </a:solidFill>
                <a:latin typeface="+mn-lt"/>
              </a:rPr>
              <a:t>momentum, % обучения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momentum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Sheet1!$A$2:$A$102</c:f>
              <c:multiLvlStrCache>
                <c:ptCount val="10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</c:lvl>
              </c:multiLvlStrCache>
            </c:multiLvlStr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0.95</c:v>
                </c:pt>
                <c:pt idx="1">
                  <c:v>0.9477777777777777</c:v>
                </c:pt>
                <c:pt idx="2">
                  <c:v>0.9455555555555555</c:v>
                </c:pt>
                <c:pt idx="3">
                  <c:v>0.9433333333333332</c:v>
                </c:pt>
                <c:pt idx="4">
                  <c:v>0.9411111111111111</c:v>
                </c:pt>
                <c:pt idx="5">
                  <c:v>0.9388888888888889</c:v>
                </c:pt>
                <c:pt idx="6">
                  <c:v>0.9366666666666666</c:v>
                </c:pt>
                <c:pt idx="7">
                  <c:v>0.9344444444444444</c:v>
                </c:pt>
                <c:pt idx="8">
                  <c:v>0.9322222222222222</c:v>
                </c:pt>
                <c:pt idx="9">
                  <c:v>0.9299999999999999</c:v>
                </c:pt>
                <c:pt idx="10">
                  <c:v>0.9277777777777777</c:v>
                </c:pt>
                <c:pt idx="11">
                  <c:v>0.9255555555555555</c:v>
                </c:pt>
                <c:pt idx="12">
                  <c:v>0.9233333333333333</c:v>
                </c:pt>
                <c:pt idx="13">
                  <c:v>0.9211111111111111</c:v>
                </c:pt>
                <c:pt idx="14">
                  <c:v>0.9188888888888889</c:v>
                </c:pt>
                <c:pt idx="15">
                  <c:v>0.9166666666666666</c:v>
                </c:pt>
                <c:pt idx="16">
                  <c:v>0.9144444444444444</c:v>
                </c:pt>
                <c:pt idx="17">
                  <c:v>0.9122222222222222</c:v>
                </c:pt>
                <c:pt idx="18">
                  <c:v>0.9099999999999999</c:v>
                </c:pt>
                <c:pt idx="19">
                  <c:v>0.9077777777777777</c:v>
                </c:pt>
                <c:pt idx="20">
                  <c:v>0.9055555555555556</c:v>
                </c:pt>
                <c:pt idx="21">
                  <c:v>0.9033333333333333</c:v>
                </c:pt>
                <c:pt idx="22">
                  <c:v>0.9011111111111111</c:v>
                </c:pt>
                <c:pt idx="23">
                  <c:v>0.8988888888888888</c:v>
                </c:pt>
                <c:pt idx="24">
                  <c:v>0.8966666666666666</c:v>
                </c:pt>
                <c:pt idx="25">
                  <c:v>0.8944444444444444</c:v>
                </c:pt>
                <c:pt idx="26">
                  <c:v>0.8922222222222221</c:v>
                </c:pt>
                <c:pt idx="27">
                  <c:v>0.8899999999999999</c:v>
                </c:pt>
                <c:pt idx="28">
                  <c:v>0.8877777777777778</c:v>
                </c:pt>
                <c:pt idx="29">
                  <c:v>0.8855555555555555</c:v>
                </c:pt>
                <c:pt idx="30">
                  <c:v>0.8833333333333333</c:v>
                </c:pt>
                <c:pt idx="31">
                  <c:v>0.8811111111111111</c:v>
                </c:pt>
                <c:pt idx="32">
                  <c:v>0.8788888888888888</c:v>
                </c:pt>
                <c:pt idx="33">
                  <c:v>0.8766666666666666</c:v>
                </c:pt>
                <c:pt idx="34">
                  <c:v>0.8744444444444444</c:v>
                </c:pt>
                <c:pt idx="35">
                  <c:v>0.8722222222222222</c:v>
                </c:pt>
                <c:pt idx="36">
                  <c:v>0.87</c:v>
                </c:pt>
                <c:pt idx="37">
                  <c:v>0.8677777777777778</c:v>
                </c:pt>
                <c:pt idx="38">
                  <c:v>0.8655555555555555</c:v>
                </c:pt>
                <c:pt idx="39">
                  <c:v>0.8633333333333333</c:v>
                </c:pt>
                <c:pt idx="40">
                  <c:v>0.861111111111111</c:v>
                </c:pt>
                <c:pt idx="41">
                  <c:v>0.8588888888888888</c:v>
                </c:pt>
                <c:pt idx="42">
                  <c:v>0.8566666666666666</c:v>
                </c:pt>
                <c:pt idx="43">
                  <c:v>0.8544444444444445</c:v>
                </c:pt>
                <c:pt idx="44">
                  <c:v>0.8522222222222222</c:v>
                </c:pt>
                <c:pt idx="45">
                  <c:v>0.85</c:v>
                </c:pt>
                <c:pt idx="46">
                  <c:v>0.8522222222222222</c:v>
                </c:pt>
                <c:pt idx="47">
                  <c:v>0.8544444444444445</c:v>
                </c:pt>
                <c:pt idx="48">
                  <c:v>0.8566666666666667</c:v>
                </c:pt>
                <c:pt idx="49">
                  <c:v>0.8588888888888888</c:v>
                </c:pt>
                <c:pt idx="50">
                  <c:v>0.861111111111111</c:v>
                </c:pt>
                <c:pt idx="51">
                  <c:v>0.8633333333333333</c:v>
                </c:pt>
                <c:pt idx="52">
                  <c:v>0.8655555555555555</c:v>
                </c:pt>
                <c:pt idx="53">
                  <c:v>0.8677777777777778</c:v>
                </c:pt>
                <c:pt idx="54">
                  <c:v>0.87</c:v>
                </c:pt>
                <c:pt idx="55">
                  <c:v>0.8722222222222222</c:v>
                </c:pt>
                <c:pt idx="56">
                  <c:v>0.8744444444444445</c:v>
                </c:pt>
                <c:pt idx="57">
                  <c:v>0.8766666666666667</c:v>
                </c:pt>
                <c:pt idx="58">
                  <c:v>0.8788888888888888</c:v>
                </c:pt>
                <c:pt idx="59">
                  <c:v>0.8811111111111111</c:v>
                </c:pt>
                <c:pt idx="60">
                  <c:v>0.8833333333333333</c:v>
                </c:pt>
                <c:pt idx="61">
                  <c:v>0.8855555555555555</c:v>
                </c:pt>
                <c:pt idx="62">
                  <c:v>0.8877777777777778</c:v>
                </c:pt>
                <c:pt idx="63">
                  <c:v>0.89</c:v>
                </c:pt>
                <c:pt idx="64">
                  <c:v>0.8922222222222222</c:v>
                </c:pt>
                <c:pt idx="65">
                  <c:v>0.8944444444444444</c:v>
                </c:pt>
                <c:pt idx="66">
                  <c:v>0.8966666666666666</c:v>
                </c:pt>
                <c:pt idx="67">
                  <c:v>0.8988888888888888</c:v>
                </c:pt>
                <c:pt idx="68">
                  <c:v>0.9011111111111111</c:v>
                </c:pt>
                <c:pt idx="69">
                  <c:v>0.9033333333333333</c:v>
                </c:pt>
                <c:pt idx="70">
                  <c:v>0.9055555555555556</c:v>
                </c:pt>
                <c:pt idx="71">
                  <c:v>0.9077777777777778</c:v>
                </c:pt>
                <c:pt idx="72">
                  <c:v>0.91</c:v>
                </c:pt>
                <c:pt idx="73">
                  <c:v>0.9122222222222222</c:v>
                </c:pt>
                <c:pt idx="74">
                  <c:v>0.9144444444444444</c:v>
                </c:pt>
                <c:pt idx="75">
                  <c:v>0.9166666666666666</c:v>
                </c:pt>
                <c:pt idx="76">
                  <c:v>0.9188888888888889</c:v>
                </c:pt>
                <c:pt idx="77">
                  <c:v>0.9211111111111111</c:v>
                </c:pt>
                <c:pt idx="78">
                  <c:v>0.9233333333333333</c:v>
                </c:pt>
                <c:pt idx="79">
                  <c:v>0.9255555555555556</c:v>
                </c:pt>
                <c:pt idx="80">
                  <c:v>0.9277777777777778</c:v>
                </c:pt>
                <c:pt idx="81">
                  <c:v>0.9299999999999999</c:v>
                </c:pt>
                <c:pt idx="82">
                  <c:v>0.9322222222222222</c:v>
                </c:pt>
                <c:pt idx="83">
                  <c:v>0.9344444444444444</c:v>
                </c:pt>
                <c:pt idx="84">
                  <c:v>0.9366666666666666</c:v>
                </c:pt>
                <c:pt idx="85">
                  <c:v>0.9388888888888889</c:v>
                </c:pt>
                <c:pt idx="86">
                  <c:v>0.9411111111111111</c:v>
                </c:pt>
                <c:pt idx="87">
                  <c:v>0.9433333333333334</c:v>
                </c:pt>
                <c:pt idx="88">
                  <c:v>0.9455555555555555</c:v>
                </c:pt>
                <c:pt idx="89">
                  <c:v>0.9477777777777777</c:v>
                </c:pt>
                <c:pt idx="90">
                  <c:v>0.95</c:v>
                </c:pt>
                <c:pt idx="91">
                  <c:v>0.95</c:v>
                </c:pt>
                <c:pt idx="92">
                  <c:v>0.95</c:v>
                </c:pt>
                <c:pt idx="93">
                  <c:v>0.95</c:v>
                </c:pt>
                <c:pt idx="94">
                  <c:v>0.95</c:v>
                </c:pt>
                <c:pt idx="95">
                  <c:v>0.95</c:v>
                </c:pt>
                <c:pt idx="96">
                  <c:v>0.95</c:v>
                </c:pt>
                <c:pt idx="97">
                  <c:v>0.95</c:v>
                </c:pt>
                <c:pt idx="98">
                  <c:v>0.95</c:v>
                </c:pt>
                <c:pt idx="99">
                  <c:v>0.95</c:v>
                </c:pt>
                <c:pt idx="100">
                  <c:v>0.95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9602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Efficient NN · HW2 · Smith &amp; Topin, Super-Convergence (2018)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Super-Convergence: очень быстрое обучение нейросетей большими learning rate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L. N. Smith, N. Topin (US Naval Research Laboratory / UMBC), arXiv:1708.07120, 2018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Разбор статьи и воспроизведение результатов на CIFAR-10 / ResNet-56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Азат Резитдинов · Efficient Neural Networks · домашнее задание 2</a:t>
            </a:r>
            <a:endParaRPr lang="en-US" sz="1600" dirty="0"/>
          </a:p>
        </p:txBody>
      </p:sp>
      <p:sp>
        <p:nvSpPr>
          <p:cNvPr id="4" name="deco"/>
          <p:cNvSpPr/>
          <p:nvPr/>
        </p:nvSpPr>
        <p:spPr>
          <a:xfrm>
            <a:off x="7589520" y="109728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eco text"/>
          <p:cNvSpPr txBox="1"/>
          <p:nvPr/>
        </p:nvSpPr>
        <p:spPr>
          <a:xfrm>
            <a:off x="758952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η = 3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Контекст: learning rate — главный гиперпараметр, а расписания в 2017 году были «ступеньками»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Стандарт (He et al., 2016): η ≈ 0.1, обучать до плато, затем ×0.1 два-три раза. Для ResNet-56 на CIFAR-10 — 64k итераций, ≈ 160 эпох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Литература предупреждала о верхней границе LR; «большие» значения — это 0.1–0.3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Smith (2015, 2017) предложил cyclical learning rates (CLR) и LR range test: линейно растить η и смотреть, где точность начинает падать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Вопрос статьи: что происходит, если позволить η быть на порядок больше — 1, 3, 5?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0" y="114300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Инструменты: CLR и LR range test</a:t>
            </a:r>
            <a:endParaRPr lang="en-US" sz="2600" dirty="0"/>
          </a:p>
        </p:txBody>
      </p:sp>
      <p:sp>
        <p:nvSpPr>
          <p:cNvPr id="3" name="card Cyclical learning rate (CLR)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head Cyclical learning rate (CLR)"/>
          <p:cNvSpPr txBox="1"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Cyclical learning rate (CLR)</a:t>
            </a:r>
            <a:endParaRPr lang="en-US" sz="1400" dirty="0"/>
          </a:p>
        </p:txBody>
      </p:sp>
      <p:sp>
        <p:nvSpPr>
          <p:cNvPr id="5" name="card text Cyclical learning rate (CLR)"/>
          <p:cNvSpPr txBox="1"/>
          <p:nvPr/>
        </p:nvSpPr>
        <p:spPr>
          <a:xfrm>
            <a:off x="594360" y="15544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Задаются η min, η max и stepsize. LR линейно растёт от η min до η max за stepsize итераций и линейно падает обратно. Цикл = 2 stepsize. Авторы трактуют это как curriculum learning + simulated annealing.</a:t>
            </a:r>
            <a:endParaRPr lang="en-US" sz="1200" dirty="0"/>
          </a:p>
        </p:txBody>
      </p:sp>
      <p:sp>
        <p:nvSpPr>
          <p:cNvPr id="6" name="card LR range test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head LR range test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LR range test</a:t>
            </a:r>
            <a:endParaRPr lang="en-US" sz="1400" dirty="0"/>
          </a:p>
        </p:txBody>
      </p:sp>
      <p:sp>
        <p:nvSpPr>
          <p:cNvPr id="8" name="card text LR range test"/>
          <p:cNvSpPr txBox="1"/>
          <p:nvPr/>
        </p:nvSpPr>
        <p:spPr>
          <a:xfrm>
            <a:off x="59436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Короткий прогон, в котором η линейно растёт от 0 до большого значения. Пока сеть учится — точность растёт; когда η слишком велик — падает. Пик кривой задаёт η max для CLR, η min = η max / 3…4.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14300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Наблюдение, с которого всё началось (Fig. 2b)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Для ResNet-56 на CIFAR-10 range test до η = 3 не показывает пика: точность остаётся высокой на всём «неприличном» диапазоне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Результат не зависит от длины теста (5k / 20k / 100k итераций)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Авторы считают такую «плоскую» кривую признаком того, что архитектура способна к супер-сходимости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В range test train loss растёт, а test loss падает при η от 0.3 до 1.5 (Fig. 8a) → большой LR действует как регуляризатор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Главное утверждение: тот же ResNet-56 учится в 8 раз меньше итераций и точнее</a:t>
            </a:r>
            <a:endParaRPr lang="en-US" sz="2600" dirty="0"/>
          </a:p>
        </p:txBody>
      </p:sp>
      <p:sp>
        <p:nvSpPr>
          <p:cNvPr id="3" name="stat CLR 0.1 → 3, 10 000 итераций"/>
          <p:cNvSpPr txBox="1"/>
          <p:nvPr/>
        </p:nvSpPr>
        <p:spPr>
          <a:xfrm>
            <a:off x="45720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92.4 %</a:t>
            </a:r>
            <a:endParaRPr lang="en-US" sz="4000" dirty="0"/>
          </a:p>
        </p:txBody>
      </p:sp>
      <p:sp>
        <p:nvSpPr>
          <p:cNvPr id="4" name="stat label CLR 0.1 → 3, 10 000 итераций"/>
          <p:cNvSpPr txBox="1"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CLR 0.1 → 3, 10 000 итераций</a:t>
            </a:r>
            <a:endParaRPr lang="en-US" sz="1100" dirty="0"/>
          </a:p>
        </p:txBody>
      </p:sp>
      <p:sp>
        <p:nvSpPr>
          <p:cNvPr id="5" name="stat step LR = 0.35, 80 000 итераций"/>
          <p:cNvSpPr txBox="1"/>
          <p:nvPr/>
        </p:nvSpPr>
        <p:spPr>
          <a:xfrm>
            <a:off x="265176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91.2 %</a:t>
            </a:r>
            <a:endParaRPr lang="en-US" sz="4000" dirty="0"/>
          </a:p>
        </p:txBody>
      </p:sp>
      <p:sp>
        <p:nvSpPr>
          <p:cNvPr id="6" name="stat label step LR = 0.35, 80 000 итераций"/>
          <p:cNvSpPr txBox="1"/>
          <p:nvPr/>
        </p:nvSpPr>
        <p:spPr>
          <a:xfrm>
            <a:off x="26517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step LR = 0.35, 80 000 итераций</a:t>
            </a:r>
            <a:endParaRPr lang="en-US" sz="1100" dirty="0"/>
          </a:p>
        </p:txBody>
      </p:sp>
      <p:sp>
        <p:nvSpPr>
          <p:cNvPr id="7" name="vs"/>
          <p:cNvSpPr txBox="1"/>
          <p:nvPr/>
        </p:nvSpPr>
        <p:spPr>
          <a:xfrm>
            <a:off x="22860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CIFAR-10, ResNet-56, batch 1000, momentum 0.9, WD 1e-4; один треугольный цикл 0.1 → 3 → 0.1 (Fig. 1a, Table 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Кривая точности необычная: низкая и шумная на пике η, резкий рост на спуске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Длина цикла 2k / 6k / 10k / 20k итераций → 89.7 / 92.1 / 92.4 / 92.7 % (Fig. 1b)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Тот же эффект: ResNet-20/110, CIFAR-100 (68.6 vs 59.8 %), wide-ResNet, DenseNet, ImageNet (ResNet-50: 67.6 % за 20 эпох vs 63.7 % за 100)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120640" y="1143000"/>
          <a:ext cx="35661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Политика 1cycle: один цикл, затем «добивание» до почти нуля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0233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" y="2926080"/>
          <a:ext cx="40233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Цикл меньше всей длины обучения; остаток — линейное снижение LR на несколько порядков ниже η 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Momentum в противофазе (0.95 → 0.85 → 0.95): при большом шаге инерция мешает, при маленьком — помогает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Интуиция (Fig. 7): в начале нужен маленький шаг, чтобы выбрать направление; плоскую долину можно пройти огромными шагами; в конце — спуститься в узкий минимум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Hessian-free оценка (Eq. 8): из трёх подряд идущих весов θ_i, θ_{i+1}, θ_{i+2} получается ε* = ε·Σ|θ_{i+1} − θ_i| / Σ|2θ_{i+1} − θ_i − θ_{i+2}|; для ResNet-56 оценка даёт 2–6 → малая кривизна, широкие минимумы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Практика: fast.ai 1cycle, DAWNBench — прямые потомки этой схемы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Ключевая идея: большой LR — это регуляризация, и её нужно балансировать</a:t>
            </a:r>
            <a:endParaRPr lang="en-US" sz="2600" dirty="0"/>
          </a:p>
        </p:txBody>
      </p:sp>
      <p:sp>
        <p:nvSpPr>
          <p:cNvPr id="3" name="card Weight decay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head Weight decay"/>
          <p:cNvSpPr txBox="1"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Weight decay</a:t>
            </a:r>
            <a:endParaRPr lang="en-US" sz="1400" dirty="0"/>
          </a:p>
        </p:txBody>
      </p:sp>
      <p:sp>
        <p:nvSpPr>
          <p:cNvPr id="5" name="card text Weight decay"/>
          <p:cNvSpPr txBox="1"/>
          <p:nvPr/>
        </p:nvSpPr>
        <p:spPr>
          <a:xfrm>
            <a:off x="594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1e-3 ломает супер-сходимость, 1e-4 и меньше — нет (Fig. 12b). Для ImageNet пришлось уменьшить WD до 3e-6…1e-5</a:t>
            </a:r>
            <a:endParaRPr lang="en-US" sz="1100" dirty="0"/>
          </a:p>
        </p:txBody>
      </p:sp>
      <p:sp>
        <p:nvSpPr>
          <p:cNvPr id="6" name="card Batch size"/>
          <p:cNvSpPr/>
          <p:nvPr/>
        </p:nvSpPr>
        <p:spPr>
          <a:xfrm>
            <a:off x="3273552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head Batch size"/>
          <p:cNvSpPr txBox="1"/>
          <p:nvPr/>
        </p:nvSpPr>
        <p:spPr>
          <a:xfrm>
            <a:off x="3410712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Batch size</a:t>
            </a:r>
            <a:endParaRPr lang="en-US" sz="1400" dirty="0"/>
          </a:p>
        </p:txBody>
      </p:sp>
      <p:sp>
        <p:nvSpPr>
          <p:cNvPr id="8" name="card text Batch size"/>
          <p:cNvSpPr txBox="1"/>
          <p:nvPr/>
        </p:nvSpPr>
        <p:spPr>
          <a:xfrm>
            <a:off x="3410712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Больший batch лучше: 256 → 89.5 %, 512 → 91.7 %, 1000 → 92.4 %, 1536 → 92.1 % (Table 7). Generalization gap одинаков для малого и большого batch (Fig. 5b)</a:t>
            </a:r>
            <a:endParaRPr lang="en-US" sz="1100" dirty="0"/>
          </a:p>
        </p:txBody>
      </p:sp>
      <p:sp>
        <p:nvSpPr>
          <p:cNvPr id="9" name="card Dropout"/>
          <p:cNvSpPr/>
          <p:nvPr/>
        </p:nvSpPr>
        <p:spPr>
          <a:xfrm>
            <a:off x="6089904" y="114300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head Dropout"/>
          <p:cNvSpPr txBox="1"/>
          <p:nvPr/>
        </p:nvSpPr>
        <p:spPr>
          <a:xfrm>
            <a:off x="6227064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Dropout</a:t>
            </a:r>
            <a:endParaRPr lang="en-US" sz="1400" dirty="0"/>
          </a:p>
        </p:txBody>
      </p:sp>
      <p:sp>
        <p:nvSpPr>
          <p:cNvPr id="11" name="card text Dropout"/>
          <p:cNvSpPr txBox="1"/>
          <p:nvPr/>
        </p:nvSpPr>
        <p:spPr>
          <a:xfrm>
            <a:off x="6227064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С dropout 0.2 — небольшое улучшение (Fig. 11), т.е. регуляризации по-прежнему не слишком много</a:t>
            </a:r>
            <a:endParaRPr lang="en-US" sz="1100" dirty="0"/>
          </a:p>
        </p:txBody>
      </p:sp>
      <p:sp>
        <p:nvSpPr>
          <p:cNvPr id="12" name="card Batch norm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head Batch norm"/>
          <p:cNvSpPr txBox="1"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Batch norm</a:t>
            </a:r>
            <a:endParaRPr lang="en-US" sz="1400" dirty="0"/>
          </a:p>
        </p:txBody>
      </p:sp>
      <p:sp>
        <p:nvSpPr>
          <p:cNvPr id="14" name="card text Batch norm"/>
          <p:cNvSpPr txBox="1"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moving_average_fraction 0.95 вместо 0.999: иначе бегущая статистика не успевает за 10k итераций и test accuracy не растёт</a:t>
            </a:r>
            <a:endParaRPr lang="en-US" sz="1100" dirty="0"/>
          </a:p>
        </p:txBody>
      </p:sp>
      <p:sp>
        <p:nvSpPr>
          <p:cNvPr id="15" name="card Momentum"/>
          <p:cNvSpPr/>
          <p:nvPr/>
        </p:nvSpPr>
        <p:spPr>
          <a:xfrm>
            <a:off x="3273552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 head Momentum"/>
          <p:cNvSpPr txBox="1"/>
          <p:nvPr/>
        </p:nvSpPr>
        <p:spPr>
          <a:xfrm>
            <a:off x="3410712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Momentum</a:t>
            </a:r>
            <a:endParaRPr lang="en-US" sz="1400" dirty="0"/>
          </a:p>
        </p:txBody>
      </p:sp>
      <p:sp>
        <p:nvSpPr>
          <p:cNvPr id="17" name="card text Momentum"/>
          <p:cNvSpPr txBox="1"/>
          <p:nvPr/>
        </p:nvSpPr>
        <p:spPr>
          <a:xfrm>
            <a:off x="3410712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0.8–0.9 примерно одинаково, 0.95 хуже (Table 8)</a:t>
            </a:r>
            <a:endParaRPr lang="en-US" sz="1100" dirty="0"/>
          </a:p>
        </p:txBody>
      </p:sp>
      <p:sp>
        <p:nvSpPr>
          <p:cNvPr id="18" name="card Адаптивные методы"/>
          <p:cNvSpPr/>
          <p:nvPr/>
        </p:nvSpPr>
        <p:spPr>
          <a:xfrm>
            <a:off x="6089904" y="288036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ard head Адаптивные методы"/>
          <p:cNvSpPr txBox="1"/>
          <p:nvPr/>
        </p:nvSpPr>
        <p:spPr>
          <a:xfrm>
            <a:off x="6227064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Адаптивные методы</a:t>
            </a:r>
            <a:endParaRPr lang="en-US" sz="1400" dirty="0"/>
          </a:p>
        </p:txBody>
      </p:sp>
      <p:sp>
        <p:nvSpPr>
          <p:cNvPr id="20" name="card text Адаптивные методы"/>
          <p:cNvSpPr txBox="1"/>
          <p:nvPr/>
        </p:nvSpPr>
        <p:spPr>
          <a:xfrm>
            <a:off x="6227064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Nesterov / AdaDelta / AdaGrad с 1cycle работают; Adam — нет. В step-режиме ни один сам не «находит» большие LR (Fig. 9)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Выигрыш растёт, когда данных мало (Table 1)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примеров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step 0.35, 80k ит.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CLR 0.1–3, 10k ит.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Δ, п.п.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50 000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91.2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92.4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+1.2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40 000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89.1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91.1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+2.0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30 000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85.7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89.6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+3.9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20 000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82.7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87.9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+5.2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10 000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71.4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80.6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+9.2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Со step-расписанием на малых подвыборках обучение «расходится по дороге», с CLR — нет (Fig. 4a)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Авторы: это главный практический аргумент — эффект сильнее там, где он нужнее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Другие датасеты (Table 2, batch 512)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CIFAR-100 / ResNet-56: step 400 эп. — 61.0 %; 1cycle 25 эп. — 65.4 %, 100 эп. — 69.0 %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MNIST / LeNet: 99.03 % за 85 эп. → 99.25 % за 12 эп.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DenseNet-40: 92.7 % за 400 эп. → 92.8 % за 150 эп. (WD 1e-6)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ImageNet: ResNet-50 67.6 % за 20 эп. vs 63.7 % за 100; Inception-ResNet-v2 74.0 % vs 67.6 %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На что обратить внимание при чтении</a:t>
            </a:r>
            <a:endParaRPr lang="en-US" sz="2600" dirty="0"/>
          </a:p>
        </p:txBody>
      </p:sp>
      <p:sp>
        <p:nvSpPr>
          <p:cNvPr id="3" name="num 0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um text 0"/>
          <p:cNvSpPr txBox="1"/>
          <p:nvPr/>
        </p:nvSpPr>
        <p:spPr>
          <a:xfrm>
            <a:off x="45720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tem 0"/>
          <p:cNvSpPr txBox="1"/>
          <p:nvPr/>
        </p:nvSpPr>
        <p:spPr>
          <a:xfrm>
            <a:off x="1097280" y="11430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Итерации ≠ эпохи.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10 000 итераций при batch 1000 — это 200 эпох CIFAR-10; baseline 80 000 итераций — 1600 эпох. «На порядок быстрее» — по итерациям при фиксированном большом batch</a:t>
            </a:r>
            <a:endParaRPr lang="en-US" sz="1200" dirty="0"/>
          </a:p>
        </p:txBody>
      </p:sp>
      <p:sp>
        <p:nvSpPr>
          <p:cNvPr id="6" name="num 1"/>
          <p:cNvSpPr/>
          <p:nvPr/>
        </p:nvSpPr>
        <p:spPr>
          <a:xfrm>
            <a:off x="457200" y="19110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 text 1"/>
          <p:cNvSpPr txBox="1"/>
          <p:nvPr/>
        </p:nvSpPr>
        <p:spPr>
          <a:xfrm>
            <a:off x="4572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tem 1"/>
          <p:cNvSpPr txBox="1"/>
          <p:nvPr/>
        </p:nvSpPr>
        <p:spPr>
          <a:xfrm>
            <a:off x="1097280" y="183794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η = 3 привязано к batch 1000.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η / B = 0.003 — для batch 128 это η ≈ 0.4, т.е. вполне обычное значение. Range test при batch 128 даст пик гораздо раньше</a:t>
            </a:r>
            <a:endParaRPr lang="en-US" sz="1200" dirty="0"/>
          </a:p>
        </p:txBody>
      </p:sp>
      <p:sp>
        <p:nvSpPr>
          <p:cNvPr id="9" name="num 2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 text 2"/>
          <p:cNvSpPr txBox="1"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tem 2"/>
          <p:cNvSpPr txBox="1"/>
          <p:nvPr/>
        </p:nvSpPr>
        <p:spPr>
          <a:xfrm>
            <a:off x="1097280" y="253288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Baseline слабоват.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Step-расписание с η = 0.35 без warm-up и без cosine; современные baseline'ы на ResNet-56 дают ≈ 93–94 %</a:t>
            </a:r>
            <a:endParaRPr lang="en-US" sz="1200" dirty="0"/>
          </a:p>
        </p:txBody>
      </p:sp>
      <p:sp>
        <p:nvSpPr>
          <p:cNvPr id="12" name="num 3"/>
          <p:cNvSpPr/>
          <p:nvPr/>
        </p:nvSpPr>
        <p:spPr>
          <a:xfrm>
            <a:off x="457200" y="33009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 text 3"/>
          <p:cNvSpPr txBox="1"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tem 3"/>
          <p:cNvSpPr txBox="1"/>
          <p:nvPr/>
        </p:nvSpPr>
        <p:spPr>
          <a:xfrm>
            <a:off x="1097280" y="32278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Hessian-free оценка.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Используется только как иллюстрация; статья сама признаёт, что это не проверенный метод</a:t>
            </a:r>
            <a:endParaRPr lang="en-US" sz="1200" dirty="0"/>
          </a:p>
        </p:txBody>
      </p:sp>
      <p:sp>
        <p:nvSpPr>
          <p:cNvPr id="15" name="num 4"/>
          <p:cNvSpPr/>
          <p:nvPr/>
        </p:nvSpPr>
        <p:spPr>
          <a:xfrm>
            <a:off x="457200" y="399592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num text 4"/>
          <p:cNvSpPr txBox="1"/>
          <p:nvPr/>
        </p:nvSpPr>
        <p:spPr>
          <a:xfrm>
            <a:off x="45720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tem 4"/>
          <p:cNvSpPr txBox="1"/>
          <p:nvPr/>
        </p:nvSpPr>
        <p:spPr>
          <a:xfrm>
            <a:off x="1097280" y="392277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Хорошо проверено.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Много архитектур и датасетов, аккуратные абляции по WD / batch / momentum / BN; идея 1cycle стала стандартом (fast.ai, PyTorch OneCycleLR)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Воспроизведение на MacBook Air M5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PyTorch 2.14 / MPS · ResNet-56 · CIFAR-10 · 21 запуск · ≈ 10 часов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Постановка: что повторяем и чем отличаемся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Статья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Здесь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Фреймворк / железо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Caffe, 8 × Titan Black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PyTorch 2.14, Apple M5 (MPS, fp32)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Модель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ResNet-56, BN MAF 0.95, avg-pool + zero-pad shortcut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то же (0.85 M параметров)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Batch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512 (range test: 128 / 512 / 1000)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Длина обучения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10k ит. = 200 эп.; baseline 80k ит. = 1600 эп.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1cycle 25 / 50 / 100 эп.; step 50 / 100 / 200 эп.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LR policy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треугольник 0.1 → 3 → 0.1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1cycle 0.1 → 3 → 0.001 (45/45/10 %), momentum 0.95 → 0.85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η = 0.35, ×0.1 на 62.5 % и 87.5 %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то же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WD / momentum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1e-4 / 0.9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то же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Аугментация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crop + mirror (Caffe prototxt)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838"/>
                          </a:solidFill>
                        </a:rPr>
                        <a:t>pad-4 random crop + h-flip, на GPU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7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peed note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Скорость на M5: ≈ 1600 изображений/с при любом batch → 35 с/эпоха. Код: hw2/train.py, run_all.sh, plots.py; очередь перезапускаема.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LR range test: допустимый диапазон LR зависит от batch</a:t>
            </a:r>
            <a:endParaRPr lang="en-US" sz="2600" dirty="0"/>
          </a:p>
        </p:txBody>
      </p:sp>
      <p:pic>
        <p:nvPicPr>
          <p:cNvPr id="3" name="range_test.png" descr="/Users/rezitdinovar/efficient-nn/hw2/results/figures/range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669280" cy="2651760"/>
          </a:xfrm>
          <a:prstGeom prst="rect">
            <a:avLst/>
          </a:prstGeom>
        </p:spPr>
      </p:pic>
      <p:sp>
        <p:nvSpPr>
          <p:cNvPr id="4" name="caption range_test.png"/>
          <p:cNvSpPr txBox="1"/>
          <p:nvPr/>
        </p:nvSpPr>
        <p:spPr>
          <a:xfrm>
            <a:off x="457200" y="3776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η растёт линейно 0 → 3 за 10 эпох; слева — test accuracy для трёх batch, справа — train/test loss при batch 512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09728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ResNet-56 с BN не расходится вплоть до η = 3 при любом batch — главное наблюдение статьи (Fig. 2b) подтверждается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Train loss при batch 512 падает монотонно на всём диапазоне; test accuracy после η ≈ 1 выходит на шумное плато 50–60 % (тест короче, чем в статье: 10 эпох)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Чего нет в статье: batch 128 проседает после η ≈ 1.5, batch 1000 начинает учиться только после η ≈ 1 — допустимый LR привязан к batch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Признак «train loss растёт, test loss падает» (Fig. 8a) не наблюдается: test loss всегда выше и шумит из-за BN-статистики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Главный результат: 1cycle против piecewise-constant</a:t>
            </a:r>
            <a:endParaRPr lang="en-US" sz="2600" dirty="0"/>
          </a:p>
        </p:txBody>
      </p:sp>
      <p:pic>
        <p:nvPicPr>
          <p:cNvPr id="3" name="main_comparison.png" descr="/Users/rezitdinovar/efficient-nn/hw2/results/figures/main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760720" cy="2514600"/>
          </a:xfrm>
          <a:prstGeom prst="rect">
            <a:avLst/>
          </a:prstGeom>
        </p:spPr>
      </p:pic>
      <p:sp>
        <p:nvSpPr>
          <p:cNvPr id="4" name="caption main_comparison.png"/>
          <p:cNvSpPr txBox="1"/>
          <p:nvPr/>
        </p:nvSpPr>
        <p:spPr>
          <a:xfrm>
            <a:off x="457200" y="3639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test accuracy по эпохам (слева) и соответствующие расписания LR (справа)</a:t>
            </a:r>
            <a:endParaRPr lang="en-US" sz="900" dirty="0"/>
          </a:p>
        </p:txBody>
      </p:sp>
      <p:sp>
        <p:nvSpPr>
          <p:cNvPr id="5" name="stat 1cycle, 50 эпох"/>
          <p:cNvSpPr txBox="1"/>
          <p:nvPr/>
        </p:nvSpPr>
        <p:spPr>
          <a:xfrm>
            <a:off x="640080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92.0 %</a:t>
            </a:r>
            <a:endParaRPr lang="en-US" sz="2400" dirty="0"/>
          </a:p>
        </p:txBody>
      </p:sp>
      <p:sp>
        <p:nvSpPr>
          <p:cNvPr id="6" name="stat label 1cycle, 50 эпох"/>
          <p:cNvSpPr txBox="1"/>
          <p:nvPr/>
        </p:nvSpPr>
        <p:spPr>
          <a:xfrm>
            <a:off x="640080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1cycle, 50 эпох</a:t>
            </a:r>
            <a:endParaRPr lang="en-US" sz="1100" dirty="0"/>
          </a:p>
        </p:txBody>
      </p:sp>
      <p:sp>
        <p:nvSpPr>
          <p:cNvPr id="7" name="stat step, 200 эпох"/>
          <p:cNvSpPr txBox="1"/>
          <p:nvPr/>
        </p:nvSpPr>
        <p:spPr>
          <a:xfrm>
            <a:off x="758952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89.7 %</a:t>
            </a:r>
            <a:endParaRPr lang="en-US" sz="2400" dirty="0"/>
          </a:p>
        </p:txBody>
      </p:sp>
      <p:sp>
        <p:nvSpPr>
          <p:cNvPr id="8" name="stat label step, 200 эпох"/>
          <p:cNvSpPr txBox="1"/>
          <p:nvPr/>
        </p:nvSpPr>
        <p:spPr>
          <a:xfrm>
            <a:off x="7589520" y="1828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step, 200 эпох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468880"/>
            <a:ext cx="2377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1cycle: 25 эп. → 90.2 %, 50 → 92.0 %, 100 → 92.9 %; статья: 92.4 % за 200 эп. при batch 1000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Step η = 0.35: 50 → 83.6 %, 100 → 87.5 %, 200 → 89.7 % — за 4× бюджет не догоняет 1cycle за 50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Step с «нормальным» η = 0.1: 88.3 % за 50 эп., разрыв 3.7 п.п.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Форма кривой как в Fig. 1a: шум на пике η, резкий рост на спуске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Точность против бюджета и generalization gap</a:t>
            </a:r>
            <a:endParaRPr lang="en-US" sz="2600" dirty="0"/>
          </a:p>
        </p:txBody>
      </p:sp>
      <p:pic>
        <p:nvPicPr>
          <p:cNvPr id="3" name="acc_vs_budget.png" descr="/Users/rezitdinovar/efficient-nn/hw2/results/figures/acc_vs_bud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840480" cy="2514600"/>
          </a:xfrm>
          <a:prstGeom prst="rect">
            <a:avLst/>
          </a:prstGeom>
        </p:spPr>
      </p:pic>
      <p:sp>
        <p:nvSpPr>
          <p:cNvPr id="4" name="caption acc_vs_budget.png"/>
          <p:cNvSpPr txBox="1"/>
          <p:nvPr/>
        </p:nvSpPr>
        <p:spPr>
          <a:xfrm>
            <a:off x="457200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финальная точность каждого запуска против длины обучения</a:t>
            </a:r>
            <a:endParaRPr lang="en-US" sz="900" dirty="0"/>
          </a:p>
        </p:txBody>
      </p:sp>
      <p:pic>
        <p:nvPicPr>
          <p:cNvPr id="5" name="generalization_gap.png" descr="/Users/rezitdinovar/efficient-nn/hw2/results/figures/generalization_g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097280"/>
            <a:ext cx="4206240" cy="2514600"/>
          </a:xfrm>
          <a:prstGeom prst="rect">
            <a:avLst/>
          </a:prstGeom>
        </p:spPr>
      </p:pic>
      <p:sp>
        <p:nvSpPr>
          <p:cNvPr id="6" name="caption generalization_gap.png"/>
          <p:cNvSpPr txBox="1"/>
          <p:nvPr/>
        </p:nvSpPr>
        <p:spPr>
          <a:xfrm>
            <a:off x="4480560" y="3639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train/test loss и разрыв train − test для 100-эпоховых запусков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Супер-сходимость — это сдвиг кривой «точность–бюджет» влево: 1cycle за 25 эпох лучше step за 200. Разрыв train − test в конце у 1cycle 6.3 п.п. против 8.3 (step 100) и 9.9 (step 200) — большой LR в середине действительно работает как регуляризатор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Мало данных: 10k и 20k обучающих примеров</a:t>
            </a:r>
            <a:endParaRPr lang="en-US" sz="2600" dirty="0"/>
          </a:p>
        </p:txBody>
      </p:sp>
      <p:pic>
        <p:nvPicPr>
          <p:cNvPr id="3" name="limited_data.png" descr="/Users/rezitdinovar/efficient-nn/hw2/results/figures/limited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669280" cy="2651760"/>
          </a:xfrm>
          <a:prstGeom prst="rect">
            <a:avLst/>
          </a:prstGeom>
        </p:spPr>
      </p:pic>
      <p:sp>
        <p:nvSpPr>
          <p:cNvPr id="4" name="caption limited_data.png"/>
          <p:cNvSpPr txBox="1"/>
          <p:nvPr/>
        </p:nvSpPr>
        <p:spPr>
          <a:xfrm>
            <a:off x="457200" y="3776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1cycle за 1500 итераций против step за 3000 итераций (batch 512)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09728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10k примеров: 1cycle 81.7 % vs step 76.7 % (+5.0 п.п.); статья: 80.6 vs 71.4 (+9.2)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20k примеров: 83.6 % vs 76.3 % (+7.3 п.п.); статья: 87.9 vs 82.7 (+5.2)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При вдвое меньшем числе итераций; 1cycle на 10k даёт столько же, сколько step на 20k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«Расхождения по дороге» у step не видно, но точность при η = 0.35 колеблется 30–75 % до первого снижения LR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Абляции: weight decay, максимум η, Adam</a:t>
            </a:r>
            <a:endParaRPr lang="en-US" sz="2600" dirty="0"/>
          </a:p>
        </p:txBody>
      </p:sp>
      <p:pic>
        <p:nvPicPr>
          <p:cNvPr id="3" name="ablation.png" descr="/Users/rezitdinovar/efficient-nn/hw2/results/figures/ab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5669280" cy="2651760"/>
          </a:xfrm>
          <a:prstGeom prst="rect">
            <a:avLst/>
          </a:prstGeom>
        </p:spPr>
      </p:pic>
      <p:sp>
        <p:nvSpPr>
          <p:cNvPr id="4" name="caption ablation.png"/>
          <p:cNvSpPr txBox="1"/>
          <p:nvPr/>
        </p:nvSpPr>
        <p:spPr>
          <a:xfrm>
            <a:off x="457200" y="37764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1cycle, 25 эпох: слева — WD при максимуме η = 3; справа — максимум η = 0.3 / 1 / 3 и Adam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109728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WD 1e-3 → 80.6 %: на пике LR сеть почти не учится (test 12–20 %). WD 1e-4 → 90.2 %, 1e-5 → 87.0 %. Баланс регуляризации подтверждается с обеих сторон (Fig. 12b)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Максимум η: 0.3 → 89.7 %, 1 → 90.7 %, 3 → 90.2 %. При batch 512 «магическое» η = 3 не нужно — важен сам цикл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Adam + 1cycle (1e-4 → 3e-3): 89.4 % — всего на 0.8 п.п. хуже SGD, вопреки статье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Hessian-free оценка оптимального LR (Eq. 8)</a:t>
            </a:r>
            <a:endParaRPr lang="en-US" sz="2600" dirty="0"/>
          </a:p>
        </p:txBody>
      </p:sp>
      <p:pic>
        <p:nvPicPr>
          <p:cNvPr id="3" name="hf_estimate.png" descr="/Users/rezitdinovar/efficient-nn/hw2/results/figures/hf_estim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4206240" cy="2834640"/>
          </a:xfrm>
          <a:prstGeom prst="rect">
            <a:avLst/>
          </a:prstGeom>
        </p:spPr>
      </p:pic>
      <p:sp>
        <p:nvSpPr>
          <p:cNvPr id="4" name="caption hf_estimate.png"/>
          <p:cNvSpPr txBox="1"/>
          <p:nvPr/>
        </p:nvSpPr>
        <p:spPr>
          <a:xfrm>
            <a:off x="457200" y="3959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ε* по трём подряд идущим векторам весов, EMA с α = 0.1, первые 300 итераций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09728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При постоянном η = 0.1 оценка после всплеска (0.64 на 26-й итерации) падает к 0.19 — у авторов к 0.2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При CLR 0.1 → 3 оценка держится на 1–2 и растёт вместе с η; у авторов 2–6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Качественно как Fig. 3a; количественно оценка следует за текущим LR (ε стоит в числителе Eq. 8), т.е. это индикатор «можно больше», а не независимая оценка оптимума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Побочный результат этого прогона: 1cycle за 2000 итераций (≈ 20 эпох) — 89.5 %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Выводы</a:t>
            </a:r>
            <a:endParaRPr lang="en-US" sz="2600" dirty="0"/>
          </a:p>
        </p:txBody>
      </p:sp>
      <p:sp>
        <p:nvSpPr>
          <p:cNvPr id="3" name="card Воспроизвелось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head Воспроизвелось"/>
          <p:cNvSpPr txBox="1"/>
          <p:nvPr/>
        </p:nvSpPr>
        <p:spPr>
          <a:xfrm>
            <a:off x="5943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Воспроизвелось</a:t>
            </a:r>
            <a:endParaRPr lang="en-US" sz="1400" dirty="0"/>
          </a:p>
        </p:txBody>
      </p:sp>
      <p:sp>
        <p:nvSpPr>
          <p:cNvPr id="5" name="card text Воспроизвелось"/>
          <p:cNvSpPr txBox="1"/>
          <p:nvPr/>
        </p:nvSpPr>
        <p:spPr>
          <a:xfrm>
            <a:off x="59436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Обучение при η до 3 без расходимости; 1cycle 0.1 → 3 за 50 эпох — 92.0 % (статья: 92.4 % за 200 эпох, batch 1000)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Форма кривой: шум на пике LR, скачок на спуске (Fig. 1a)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Step-расписание за 200 эпох (89.7 %) не догоняет 1cycle за 50; со стандартным η = 0.1 разрыв 3–4 п.п.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Мало данных: +5–7 п.п. при вдвое меньшем числе итераций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WD 1e-3 ломает супер-сходимость, 1e-4 — оптимум; разрыв train − test у 1cycle меньше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Hessian-free оценка: качественно как Fig. 3a</a:t>
            </a:r>
            <a:endParaRPr lang="en-US" sz="1200" dirty="0"/>
          </a:p>
        </p:txBody>
      </p:sp>
      <p:sp>
        <p:nvSpPr>
          <p:cNvPr id="6" name="card Не воспроизвелось / с оговорками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head Не воспроизвелось / с оговорками"/>
          <p:cNvSpPr txBox="1"/>
          <p:nvPr/>
        </p:nvSpPr>
        <p:spPr>
          <a:xfrm>
            <a:off x="480060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 воспроизвелось / с оговорками</a:t>
            </a:r>
            <a:endParaRPr lang="en-US" sz="1400" dirty="0"/>
          </a:p>
        </p:txBody>
      </p:sp>
      <p:sp>
        <p:nvSpPr>
          <p:cNvPr id="8" name="card text Не воспроизвелось / с оговорками"/>
          <p:cNvSpPr txBox="1"/>
          <p:nvPr/>
        </p:nvSpPr>
        <p:spPr>
          <a:xfrm>
            <a:off x="4800600" y="15544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η = 3 не обязателен: при batch 512 максимум η = 1 не хуже (90.7 vs 90.2 %), даже 0.03 → 0.3 отстаёт на 0.5 п.п. Большой LR в статье привязан к batch 1000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Adam с 1cycle работает (89.4 %), вопреки утверждению авторов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«На порядок быстрее» — в итерациях; в эпохах выигрыш ≈ 4×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Признак регуляризации «train loss ↑, test loss ↓» в range test не воспроизвёлся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Hessian-free оценка даёт 1–2, а не 2–6, и следует за текущим LR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• Все числа — один сид; различия &lt; 1 п.п. незначимы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9602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Convergence">
  <a:themeElements>
    <a:clrScheme name="SuperConvergence">
      <a:dk1>
        <a:srgbClr val="1B2838"/>
      </a:dk1>
      <a:lt1>
        <a:srgbClr val="FFFFFF"/>
      </a:lt1>
      <a:dk2>
        <a:srgbClr val="52514E"/>
      </a:dk2>
      <a:lt2>
        <a:srgbClr val="F1F3F6"/>
      </a:lt2>
      <a:accent1>
        <a:srgbClr val="E8572A"/>
      </a:accent1>
      <a:accent2>
        <a:srgbClr val="2A78D6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SuperConverg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Super-Convergence: разбор статьи и воспроизведение</dc:title>
  <dc:subject>PptxGenJS Presentation</dc:subject>
  <dc:creator>Азат Резитдинов</dc:creator>
  <cp:lastModifiedBy>Азат Резитдинов</cp:lastModifiedBy>
  <cp:revision>1</cp:revision>
  <dcterms:created xsi:type="dcterms:W3CDTF">2026-10-10T20:46:36Z</dcterms:created>
  <dcterms:modified xsi:type="dcterms:W3CDTF">2026-10-10T20:46:36Z</dcterms:modified>
</cp:coreProperties>
</file>